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63" r:id="rId3"/>
    <p:sldId id="257" r:id="rId4"/>
    <p:sldId id="258" r:id="rId5"/>
    <p:sldId id="259" r:id="rId6"/>
    <p:sldId id="260" r:id="rId7"/>
    <p:sldId id="261" r:id="rId8"/>
    <p:sldId id="262" r:id="rId9"/>
    <p:sldId id="264" r:id="rId10"/>
  </p:sldIdLst>
  <p:sldSz cx="9144000" cy="5143500" type="screen16x9"/>
  <p:notesSz cx="6858000" cy="9144000"/>
  <p:embeddedFontLst>
    <p:embeddedFont>
      <p:font typeface="Nunito"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9bcf6b2673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9bcf6b2673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9bcf6b2673_0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9bcf6b2673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9bcf6b2673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9bcf6b2673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9bcf6b2673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9bcf6b2673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9bcf6b2673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9bcf6b2673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9bd76cfa8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9bd76cfa8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9bd76cfa83_0_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9bd76cfa83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a:extLst>
            <a:ext uri="{FF2B5EF4-FFF2-40B4-BE49-F238E27FC236}">
              <a16:creationId xmlns:a16="http://schemas.microsoft.com/office/drawing/2014/main" id="{6E4D0CD5-FC5F-CDF6-366D-689610A56DC1}"/>
            </a:ext>
          </a:extLst>
        </p:cNvPr>
        <p:cNvGrpSpPr/>
        <p:nvPr/>
      </p:nvGrpSpPr>
      <p:grpSpPr>
        <a:xfrm>
          <a:off x="0" y="0"/>
          <a:ext cx="0" cy="0"/>
          <a:chOff x="0" y="0"/>
          <a:chExt cx="0" cy="0"/>
        </a:xfrm>
      </p:grpSpPr>
      <p:sp>
        <p:nvSpPr>
          <p:cNvPr id="177" name="Google Shape;177;g39bcf6b2673_0_264:notes">
            <a:extLst>
              <a:ext uri="{FF2B5EF4-FFF2-40B4-BE49-F238E27FC236}">
                <a16:creationId xmlns:a16="http://schemas.microsoft.com/office/drawing/2014/main" id="{18C6E539-F229-3D96-04C7-8475B79B19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9bcf6b2673_0_264:notes">
            <a:extLst>
              <a:ext uri="{FF2B5EF4-FFF2-40B4-BE49-F238E27FC236}">
                <a16:creationId xmlns:a16="http://schemas.microsoft.com/office/drawing/2014/main" id="{37028FA8-BE36-02A2-FD10-154826F35D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45709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t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13" title="logo_tr_eng-a4-41.jpg"/>
          <p:cNvPicPr preferRelativeResize="0"/>
          <p:nvPr/>
        </p:nvPicPr>
        <p:blipFill>
          <a:blip r:embed="rId3">
            <a:alphaModFix/>
          </a:blip>
          <a:stretch>
            <a:fillRect/>
          </a:stretch>
        </p:blipFill>
        <p:spPr>
          <a:xfrm>
            <a:off x="2717848" y="744113"/>
            <a:ext cx="3708300" cy="3655277"/>
          </a:xfrm>
          <a:prstGeom prst="rect">
            <a:avLst/>
          </a:prstGeom>
          <a:noFill/>
          <a:ln>
            <a:noFill/>
          </a:ln>
        </p:spPr>
      </p:pic>
      <p:sp>
        <p:nvSpPr>
          <p:cNvPr id="129" name="Google Shape;129;p13"/>
          <p:cNvSpPr txBox="1">
            <a:spLocks noGrp="1"/>
          </p:cNvSpPr>
          <p:nvPr>
            <p:ph type="ctrTitle"/>
          </p:nvPr>
        </p:nvSpPr>
        <p:spPr>
          <a:xfrm>
            <a:off x="870750" y="1847700"/>
            <a:ext cx="7402500" cy="14481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tr"/>
              <a:t>COMPANION</a:t>
            </a:r>
            <a:endParaRPr/>
          </a:p>
          <a:p>
            <a:pPr marL="0" lvl="0" indent="0" algn="ctr" rtl="0">
              <a:spcBef>
                <a:spcPts val="0"/>
              </a:spcBef>
              <a:spcAft>
                <a:spcPts val="0"/>
              </a:spcAft>
              <a:buNone/>
            </a:pPr>
            <a:r>
              <a:rPr lang="tr"/>
              <a:t> MOBİL UYGULAMA PROJESİ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0"/>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TAKIM ÜYELERİ – GÖREV DAĞILIMI</a:t>
            </a:r>
            <a:endParaRPr dirty="0"/>
          </a:p>
        </p:txBody>
      </p:sp>
      <p:sp>
        <p:nvSpPr>
          <p:cNvPr id="181" name="Google Shape;181;p20"/>
          <p:cNvSpPr txBox="1">
            <a:spLocks noGrp="1"/>
          </p:cNvSpPr>
          <p:nvPr>
            <p:ph type="body" idx="1"/>
          </p:nvPr>
        </p:nvSpPr>
        <p:spPr>
          <a:xfrm>
            <a:off x="1067497" y="1872940"/>
            <a:ext cx="7009006" cy="1397620"/>
          </a:xfrm>
          <a:prstGeom prst="rect">
            <a:avLst/>
          </a:prstGeom>
        </p:spPr>
        <p:txBody>
          <a:bodyPr spcFirstLastPara="1" wrap="square" lIns="91425" tIns="91425" rIns="91425" bIns="91425" anchor="t" anchorCtr="0">
            <a:noAutofit/>
          </a:bodyPr>
          <a:lstStyle/>
          <a:p>
            <a:pPr marL="0" lvl="0" indent="0" algn="ctr" rtl="0">
              <a:spcBef>
                <a:spcPts val="1200"/>
              </a:spcBef>
              <a:spcAft>
                <a:spcPts val="0"/>
              </a:spcAft>
              <a:buNone/>
            </a:pPr>
            <a:r>
              <a:rPr lang="tr" dirty="0">
                <a:solidFill>
                  <a:schemeClr val="lt1"/>
                </a:solidFill>
                <a:latin typeface="Nunito" pitchFamily="2" charset="0"/>
              </a:rPr>
              <a:t>Alican İnsan</a:t>
            </a:r>
            <a:r>
              <a:rPr lang="tr" dirty="0">
                <a:latin typeface="Nunito" pitchFamily="2" charset="0"/>
              </a:rPr>
              <a:t> – 1306230101</a:t>
            </a:r>
            <a:r>
              <a:rPr lang="en-US" dirty="0">
                <a:latin typeface="Nunito" pitchFamily="2" charset="0"/>
              </a:rPr>
              <a:t> – Local Backend</a:t>
            </a:r>
            <a:r>
              <a:rPr lang="tr" dirty="0">
                <a:latin typeface="Nunito" pitchFamily="2" charset="0"/>
              </a:rPr>
              <a:t>  </a:t>
            </a:r>
            <a:endParaRPr lang="en-US" dirty="0">
              <a:latin typeface="Nunito" pitchFamily="2" charset="0"/>
            </a:endParaRPr>
          </a:p>
          <a:p>
            <a:pPr marL="0" lvl="0" indent="0" algn="ctr" rtl="0">
              <a:spcBef>
                <a:spcPts val="1200"/>
              </a:spcBef>
              <a:spcAft>
                <a:spcPts val="0"/>
              </a:spcAft>
              <a:buNone/>
            </a:pPr>
            <a:r>
              <a:rPr lang="tr" dirty="0">
                <a:solidFill>
                  <a:schemeClr val="lt1"/>
                </a:solidFill>
                <a:latin typeface="Nunito" pitchFamily="2" charset="0"/>
              </a:rPr>
              <a:t>Kubilay Özkan</a:t>
            </a:r>
            <a:r>
              <a:rPr lang="tr" dirty="0">
                <a:latin typeface="Nunito" pitchFamily="2" charset="0"/>
              </a:rPr>
              <a:t> - 1316230077 </a:t>
            </a:r>
            <a:r>
              <a:rPr lang="en-US" dirty="0">
                <a:latin typeface="Nunito" pitchFamily="2" charset="0"/>
              </a:rPr>
              <a:t>– UI Design (PR </a:t>
            </a:r>
            <a:r>
              <a:rPr lang="en-US" dirty="0" err="1">
                <a:latin typeface="Nunito" pitchFamily="2" charset="0"/>
              </a:rPr>
              <a:t>Sorumlusu</a:t>
            </a:r>
            <a:r>
              <a:rPr lang="en-US" dirty="0">
                <a:latin typeface="Nunito" pitchFamily="2" charset="0"/>
              </a:rPr>
              <a:t>)</a:t>
            </a:r>
            <a:endParaRPr dirty="0">
              <a:latin typeface="Nunito" pitchFamily="2" charset="0"/>
            </a:endParaRPr>
          </a:p>
          <a:p>
            <a:pPr marL="0" lvl="0" indent="0" algn="ctr">
              <a:spcBef>
                <a:spcPts val="1200"/>
              </a:spcBef>
              <a:spcAft>
                <a:spcPts val="1200"/>
              </a:spcAft>
              <a:buNone/>
            </a:pPr>
            <a:r>
              <a:rPr lang="tr" dirty="0">
                <a:solidFill>
                  <a:schemeClr val="lt1"/>
                </a:solidFill>
                <a:latin typeface="Nunito" pitchFamily="2" charset="0"/>
              </a:rPr>
              <a:t>Ömer Özer</a:t>
            </a:r>
            <a:r>
              <a:rPr lang="tr" dirty="0">
                <a:latin typeface="Nunito" pitchFamily="2" charset="0"/>
              </a:rPr>
              <a:t> - 1306210087 </a:t>
            </a:r>
            <a:r>
              <a:rPr lang="en-US" dirty="0">
                <a:latin typeface="Nunito" pitchFamily="2" charset="0"/>
              </a:rPr>
              <a:t>– Remote Backend</a:t>
            </a:r>
          </a:p>
        </p:txBody>
      </p:sp>
      <p:pic>
        <p:nvPicPr>
          <p:cNvPr id="182" name="Google Shape;182;p20"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sp>
        <p:nvSpPr>
          <p:cNvPr id="2" name="Metin kutusu 1">
            <a:extLst>
              <a:ext uri="{FF2B5EF4-FFF2-40B4-BE49-F238E27FC236}">
                <a16:creationId xmlns:a16="http://schemas.microsoft.com/office/drawing/2014/main" id="{85C0EA71-7318-5331-D2B7-CF988A6E489B}"/>
              </a:ext>
            </a:extLst>
          </p:cNvPr>
          <p:cNvSpPr txBox="1"/>
          <p:nvPr/>
        </p:nvSpPr>
        <p:spPr>
          <a:xfrm>
            <a:off x="2637015" y="3160161"/>
            <a:ext cx="3869970" cy="492443"/>
          </a:xfrm>
          <a:prstGeom prst="rect">
            <a:avLst/>
          </a:prstGeom>
          <a:noFill/>
        </p:spPr>
        <p:txBody>
          <a:bodyPr wrap="none" rtlCol="0">
            <a:spAutoFit/>
          </a:bodyPr>
          <a:lstStyle/>
          <a:p>
            <a:r>
              <a:rPr lang="tr-TR" sz="1300" dirty="0">
                <a:solidFill>
                  <a:schemeClr val="lt1"/>
                </a:solidFill>
                <a:latin typeface="Nunito" pitchFamily="2" charset="0"/>
              </a:rPr>
              <a:t>Sercan </a:t>
            </a:r>
            <a:r>
              <a:rPr lang="tr-TR" sz="1300" dirty="0" err="1">
                <a:solidFill>
                  <a:schemeClr val="lt1"/>
                </a:solidFill>
                <a:latin typeface="Nunito" pitchFamily="2" charset="0"/>
              </a:rPr>
              <a:t>Tayilan</a:t>
            </a:r>
            <a:r>
              <a:rPr lang="tr-TR" sz="1300" dirty="0">
                <a:latin typeface="Nunito" pitchFamily="2" charset="0"/>
              </a:rPr>
              <a:t> – 1306170097 - Remote </a:t>
            </a:r>
            <a:r>
              <a:rPr lang="tr-TR" sz="1300" dirty="0" err="1">
                <a:latin typeface="Nunito" pitchFamily="2" charset="0"/>
              </a:rPr>
              <a:t>Backend</a:t>
            </a:r>
            <a:endParaRPr lang="tr-TR" sz="1300" dirty="0">
              <a:latin typeface="Nunito" pitchFamily="2" charset="0"/>
            </a:endParaRPr>
          </a:p>
          <a:p>
            <a:endParaRPr lang="tr-TR"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None/>
            </a:pPr>
            <a:r>
              <a:rPr lang="tr"/>
              <a:t>Companion nedir? Companion’ın amacı nedir?</a:t>
            </a:r>
            <a:endParaRPr/>
          </a:p>
          <a:p>
            <a:pPr marL="0" lvl="0" indent="0" algn="l" rtl="0">
              <a:spcBef>
                <a:spcPts val="1200"/>
              </a:spcBef>
              <a:spcAft>
                <a:spcPts val="0"/>
              </a:spcAft>
              <a:buNone/>
            </a:pPr>
            <a:endParaRPr/>
          </a:p>
        </p:txBody>
      </p:sp>
      <p:sp>
        <p:nvSpPr>
          <p:cNvPr id="135" name="Google Shape;135;p14"/>
          <p:cNvSpPr txBox="1">
            <a:spLocks noGrp="1"/>
          </p:cNvSpPr>
          <p:nvPr>
            <p:ph type="body" idx="1"/>
          </p:nvPr>
        </p:nvSpPr>
        <p:spPr>
          <a:xfrm>
            <a:off x="819150" y="1990725"/>
            <a:ext cx="50436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sz="1800">
                <a:solidFill>
                  <a:schemeClr val="lt1"/>
                </a:solidFill>
              </a:rPr>
              <a:t>Companion </a:t>
            </a:r>
            <a:r>
              <a:rPr lang="tr" sz="1800"/>
              <a:t>uygulaması, üniversite öğrencilerinin akademik hayatında yaşadığı bazı sıkıntıları gidermek amacıyla geliştirilecek mobil uygulamadır. Sunumumuzda uygulamamızın sağlayacağı hizmetlerden ve bu hizmetleri nasıl sağlanacağından bahsedeceğiz.</a:t>
            </a:r>
            <a:endParaRPr sz="1800"/>
          </a:p>
          <a:p>
            <a:pPr marL="0" lvl="0" indent="0" algn="l" rtl="0">
              <a:spcBef>
                <a:spcPts val="1200"/>
              </a:spcBef>
              <a:spcAft>
                <a:spcPts val="1200"/>
              </a:spcAft>
              <a:buNone/>
            </a:pPr>
            <a:endParaRPr/>
          </a:p>
        </p:txBody>
      </p:sp>
      <p:pic>
        <p:nvPicPr>
          <p:cNvPr id="136" name="Google Shape;136;p14"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pic>
        <p:nvPicPr>
          <p:cNvPr id="137" name="Google Shape;137;p14" title="UI.png"/>
          <p:cNvPicPr preferRelativeResize="0"/>
          <p:nvPr/>
        </p:nvPicPr>
        <p:blipFill>
          <a:blip r:embed="rId4">
            <a:alphaModFix/>
          </a:blip>
          <a:stretch>
            <a:fillRect/>
          </a:stretch>
        </p:blipFill>
        <p:spPr>
          <a:xfrm>
            <a:off x="5991875" y="1565650"/>
            <a:ext cx="2024875" cy="3038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a:t>Öğrencilerin Genelde Yaşadığı Sıkıntılar</a:t>
            </a:r>
            <a:endParaRPr/>
          </a:p>
        </p:txBody>
      </p:sp>
      <p:sp>
        <p:nvSpPr>
          <p:cNvPr id="143" name="Google Shape;143;p15"/>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fontScale="32500" lnSpcReduction="20000"/>
          </a:bodyPr>
          <a:lstStyle/>
          <a:p>
            <a:pPr marL="0" lvl="0" indent="0" algn="l" rtl="0">
              <a:spcBef>
                <a:spcPts val="1200"/>
              </a:spcBef>
              <a:spcAft>
                <a:spcPts val="0"/>
              </a:spcAft>
              <a:buNone/>
            </a:pPr>
            <a:r>
              <a:rPr lang="tr" sz="4854" b="1">
                <a:solidFill>
                  <a:schemeClr val="lt1"/>
                </a:solidFill>
                <a:latin typeface="Arial"/>
                <a:ea typeface="Arial"/>
                <a:cs typeface="Arial"/>
                <a:sym typeface="Arial"/>
              </a:rPr>
              <a:t>Sistem Kısıtlılığı:</a:t>
            </a:r>
            <a:r>
              <a:rPr lang="tr" sz="4854">
                <a:solidFill>
                  <a:srgbClr val="000000"/>
                </a:solidFill>
                <a:latin typeface="Arial"/>
                <a:ea typeface="Arial"/>
                <a:cs typeface="Arial"/>
                <a:sym typeface="Arial"/>
              </a:rPr>
              <a:t> Aksis (Akademik Kayıt Sistemi) ders kayıt dönemi dışında dönemsel ders planlamasına ve simülasyona izin vermemektedir.</a:t>
            </a:r>
            <a:endParaRPr sz="4854">
              <a:solidFill>
                <a:srgbClr val="000000"/>
              </a:solidFill>
              <a:latin typeface="Arial"/>
              <a:ea typeface="Arial"/>
              <a:cs typeface="Arial"/>
              <a:sym typeface="Arial"/>
            </a:endParaRPr>
          </a:p>
          <a:p>
            <a:pPr marL="0" lvl="0" indent="0" algn="l" rtl="0">
              <a:spcBef>
                <a:spcPts val="1200"/>
              </a:spcBef>
              <a:spcAft>
                <a:spcPts val="0"/>
              </a:spcAft>
              <a:buNone/>
            </a:pPr>
            <a:r>
              <a:rPr lang="tr" sz="4854" b="1">
                <a:solidFill>
                  <a:schemeClr val="lt1"/>
                </a:solidFill>
                <a:latin typeface="Arial"/>
                <a:ea typeface="Arial"/>
                <a:cs typeface="Arial"/>
                <a:sym typeface="Arial"/>
              </a:rPr>
              <a:t>Manuel İş Yükü:</a:t>
            </a:r>
            <a:r>
              <a:rPr lang="tr" sz="4854">
                <a:solidFill>
                  <a:srgbClr val="000000"/>
                </a:solidFill>
                <a:latin typeface="Arial"/>
                <a:ea typeface="Arial"/>
                <a:cs typeface="Arial"/>
                <a:sym typeface="Arial"/>
              </a:rPr>
              <a:t> Öğrenciler; çakışma kontrollerini, zorunlu/seçmeli ders grubu kurallarını ve alınabilir dersleri manuel olarak takip etmek zorundadır.</a:t>
            </a:r>
            <a:endParaRPr sz="4854">
              <a:solidFill>
                <a:srgbClr val="000000"/>
              </a:solidFill>
              <a:latin typeface="Arial"/>
              <a:ea typeface="Arial"/>
              <a:cs typeface="Arial"/>
              <a:sym typeface="Arial"/>
            </a:endParaRPr>
          </a:p>
          <a:p>
            <a:pPr marL="0" lvl="0" indent="0" algn="l" rtl="0">
              <a:spcBef>
                <a:spcPts val="1200"/>
              </a:spcBef>
              <a:spcAft>
                <a:spcPts val="0"/>
              </a:spcAft>
              <a:buNone/>
            </a:pPr>
            <a:r>
              <a:rPr lang="tr" sz="4854" b="1">
                <a:solidFill>
                  <a:schemeClr val="lt1"/>
                </a:solidFill>
                <a:latin typeface="Arial"/>
                <a:ea typeface="Arial"/>
                <a:cs typeface="Arial"/>
                <a:sym typeface="Arial"/>
              </a:rPr>
              <a:t>Akademik Belirsizlik:</a:t>
            </a:r>
            <a:r>
              <a:rPr lang="tr" sz="4854">
                <a:solidFill>
                  <a:srgbClr val="000000"/>
                </a:solidFill>
                <a:latin typeface="Arial"/>
                <a:ea typeface="Arial"/>
                <a:cs typeface="Arial"/>
                <a:sym typeface="Arial"/>
              </a:rPr>
              <a:t> Gelecek notlara dayalı AGNO (Genel Ortalama) projeksiyonu ve "what-if" (durum) analizi yapılamamaktadır.</a:t>
            </a:r>
            <a:endParaRPr sz="4854">
              <a:solidFill>
                <a:srgbClr val="000000"/>
              </a:solidFill>
              <a:latin typeface="Arial"/>
              <a:ea typeface="Arial"/>
              <a:cs typeface="Arial"/>
              <a:sym typeface="Arial"/>
            </a:endParaRPr>
          </a:p>
          <a:p>
            <a:pPr marL="0" lvl="0" indent="0" algn="l" rtl="0">
              <a:spcBef>
                <a:spcPts val="1200"/>
              </a:spcBef>
              <a:spcAft>
                <a:spcPts val="0"/>
              </a:spcAft>
              <a:buNone/>
            </a:pPr>
            <a:r>
              <a:rPr lang="tr" sz="4854" b="1">
                <a:solidFill>
                  <a:schemeClr val="lt1"/>
                </a:solidFill>
                <a:latin typeface="Arial"/>
                <a:ea typeface="Arial"/>
                <a:cs typeface="Arial"/>
                <a:sym typeface="Arial"/>
              </a:rPr>
              <a:t>Dağınık Süreçler:</a:t>
            </a:r>
            <a:r>
              <a:rPr lang="tr" sz="4854">
                <a:solidFill>
                  <a:srgbClr val="000000"/>
                </a:solidFill>
                <a:latin typeface="Arial"/>
                <a:ea typeface="Arial"/>
                <a:cs typeface="Arial"/>
                <a:sym typeface="Arial"/>
              </a:rPr>
              <a:t> Ders materyalleri, ders programı ve akademik takvim gibi bilgiler farklı platformlarda bulunmaktadır.</a:t>
            </a:r>
            <a:endParaRPr sz="4854">
              <a:solidFill>
                <a:srgbClr val="000000"/>
              </a:solidFill>
              <a:latin typeface="Arial"/>
              <a:ea typeface="Arial"/>
              <a:cs typeface="Arial"/>
              <a:sym typeface="Arial"/>
            </a:endParaRPr>
          </a:p>
          <a:p>
            <a:pPr marL="0" lvl="0" indent="0" algn="l" rtl="0">
              <a:spcBef>
                <a:spcPts val="1200"/>
              </a:spcBef>
              <a:spcAft>
                <a:spcPts val="1200"/>
              </a:spcAft>
              <a:buNone/>
            </a:pPr>
            <a:endParaRPr/>
          </a:p>
        </p:txBody>
      </p:sp>
      <p:pic>
        <p:nvPicPr>
          <p:cNvPr id="144" name="Google Shape;144;p15"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tr"/>
              <a:t>Uygulamamızın Fonksiyonları</a:t>
            </a:r>
            <a:endParaRPr/>
          </a:p>
        </p:txBody>
      </p:sp>
      <p:sp>
        <p:nvSpPr>
          <p:cNvPr id="150" name="Google Shape;150;p16"/>
          <p:cNvSpPr txBox="1">
            <a:spLocks noGrp="1"/>
          </p:cNvSpPr>
          <p:nvPr>
            <p:ph type="body" idx="1"/>
          </p:nvPr>
        </p:nvSpPr>
        <p:spPr>
          <a:xfrm>
            <a:off x="819150" y="1990725"/>
            <a:ext cx="4005300" cy="2448000"/>
          </a:xfrm>
          <a:prstGeom prst="rect">
            <a:avLst/>
          </a:prstGeom>
        </p:spPr>
        <p:txBody>
          <a:bodyPr spcFirstLastPara="1" wrap="square" lIns="91425" tIns="91425" rIns="91425" bIns="91425" anchor="t" anchorCtr="0">
            <a:normAutofit/>
          </a:bodyPr>
          <a:lstStyle/>
          <a:p>
            <a:pPr marL="457200" lvl="0" indent="-330200" algn="l" rtl="0">
              <a:spcBef>
                <a:spcPts val="1200"/>
              </a:spcBef>
              <a:spcAft>
                <a:spcPts val="0"/>
              </a:spcAft>
              <a:buClr>
                <a:schemeClr val="lt1"/>
              </a:buClr>
              <a:buSzPts val="1600"/>
              <a:buFont typeface="Calibri"/>
              <a:buChar char="❖"/>
            </a:pPr>
            <a:r>
              <a:rPr lang="tr" sz="1800">
                <a:solidFill>
                  <a:schemeClr val="lt1"/>
                </a:solidFill>
              </a:rPr>
              <a:t>Ders Planlama ve Çakışma Analizi</a:t>
            </a:r>
            <a:endParaRPr sz="1800">
              <a:solidFill>
                <a:schemeClr val="lt1"/>
              </a:solidFill>
            </a:endParaRPr>
          </a:p>
          <a:p>
            <a:pPr marL="457200" lvl="0" indent="-330200" algn="l" rtl="0">
              <a:spcBef>
                <a:spcPts val="0"/>
              </a:spcBef>
              <a:spcAft>
                <a:spcPts val="0"/>
              </a:spcAft>
              <a:buClr>
                <a:schemeClr val="lt1"/>
              </a:buClr>
              <a:buSzPts val="1600"/>
              <a:buFont typeface="Calibri"/>
              <a:buChar char="❖"/>
            </a:pPr>
            <a:r>
              <a:rPr lang="tr" sz="1800">
                <a:solidFill>
                  <a:schemeClr val="lt1"/>
                </a:solidFill>
              </a:rPr>
              <a:t>AGNO Simülatörü</a:t>
            </a:r>
            <a:endParaRPr sz="1800">
              <a:solidFill>
                <a:schemeClr val="lt1"/>
              </a:solidFill>
            </a:endParaRPr>
          </a:p>
          <a:p>
            <a:pPr marL="457200" lvl="0" indent="-330200" algn="l" rtl="0">
              <a:spcBef>
                <a:spcPts val="0"/>
              </a:spcBef>
              <a:spcAft>
                <a:spcPts val="0"/>
              </a:spcAft>
              <a:buClr>
                <a:schemeClr val="lt1"/>
              </a:buClr>
              <a:buSzPts val="1600"/>
              <a:buFont typeface="Calibri"/>
              <a:buChar char="❖"/>
            </a:pPr>
            <a:r>
              <a:rPr lang="tr" sz="1800">
                <a:solidFill>
                  <a:schemeClr val="lt1"/>
                </a:solidFill>
              </a:rPr>
              <a:t>Kampüs Yaşam Düzenleme</a:t>
            </a:r>
            <a:endParaRPr sz="1800">
              <a:solidFill>
                <a:schemeClr val="lt1"/>
              </a:solidFill>
            </a:endParaRPr>
          </a:p>
          <a:p>
            <a:pPr marL="0" lvl="0" indent="0" algn="l" rtl="0">
              <a:spcBef>
                <a:spcPts val="1200"/>
              </a:spcBef>
              <a:spcAft>
                <a:spcPts val="1200"/>
              </a:spcAft>
              <a:buNone/>
            </a:pPr>
            <a:endParaRPr/>
          </a:p>
        </p:txBody>
      </p:sp>
      <p:pic>
        <p:nvPicPr>
          <p:cNvPr id="151" name="Google Shape;151;p16"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7"/>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457200" lvl="0" indent="-419100" algn="l" rtl="0">
              <a:spcBef>
                <a:spcPts val="0"/>
              </a:spcBef>
              <a:spcAft>
                <a:spcPts val="0"/>
              </a:spcAft>
              <a:buSzPts val="3000"/>
              <a:buAutoNum type="arabicPeriod"/>
            </a:pPr>
            <a:r>
              <a:rPr lang="tr"/>
              <a:t>Fonksiyon: Akıllı Ders Planlama</a:t>
            </a:r>
            <a:endParaRPr/>
          </a:p>
        </p:txBody>
      </p:sp>
      <p:sp>
        <p:nvSpPr>
          <p:cNvPr id="157" name="Google Shape;157;p17"/>
          <p:cNvSpPr txBox="1">
            <a:spLocks noGrp="1"/>
          </p:cNvSpPr>
          <p:nvPr>
            <p:ph type="body" idx="1"/>
          </p:nvPr>
        </p:nvSpPr>
        <p:spPr>
          <a:xfrm>
            <a:off x="819150" y="1990725"/>
            <a:ext cx="4873500" cy="24480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tr" sz="1100" b="1">
                <a:solidFill>
                  <a:schemeClr val="lt1"/>
                </a:solidFill>
                <a:latin typeface="Arial"/>
                <a:ea typeface="Arial"/>
                <a:cs typeface="Arial"/>
                <a:sym typeface="Arial"/>
              </a:rPr>
              <a:t>Transkript İşleme (OCR): </a:t>
            </a:r>
            <a:r>
              <a:rPr lang="tr" sz="1100">
                <a:solidFill>
                  <a:srgbClr val="000000"/>
                </a:solidFill>
                <a:latin typeface="Arial"/>
                <a:ea typeface="Arial"/>
                <a:cs typeface="Arial"/>
                <a:sym typeface="Arial"/>
              </a:rPr>
              <a:t>Kullanıcı tarafından yüklenen PDF formatındaki transkript OCR ile işlenecek. Alınan dersler, notlar ve AGNO otomatik olarak sisteme aktarılacak.</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tr" sz="1100" b="1">
                <a:solidFill>
                  <a:schemeClr val="lt1"/>
                </a:solidFill>
                <a:latin typeface="Arial"/>
                <a:ea typeface="Arial"/>
                <a:cs typeface="Arial"/>
                <a:sym typeface="Arial"/>
              </a:rPr>
              <a:t>Haftalık Program İşleme (OCR): </a:t>
            </a:r>
            <a:r>
              <a:rPr lang="tr" sz="1100">
                <a:solidFill>
                  <a:srgbClr val="000000"/>
                </a:solidFill>
                <a:latin typeface="Arial"/>
                <a:ea typeface="Arial"/>
                <a:cs typeface="Arial"/>
                <a:sym typeface="Arial"/>
              </a:rPr>
              <a:t>Bölümlerce yayınlanan PDF formatındaki ders programları OCR ile taranarak; derslerin gün, saat ve derslik bilgileri sisteme aktarılacak.</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tr" sz="1100" b="1">
                <a:solidFill>
                  <a:schemeClr val="lt1"/>
                </a:solidFill>
                <a:latin typeface="Arial"/>
                <a:ea typeface="Arial"/>
                <a:cs typeface="Arial"/>
                <a:sym typeface="Arial"/>
              </a:rPr>
              <a:t>Ders Programı Simülatörü: </a:t>
            </a:r>
            <a:r>
              <a:rPr lang="tr" sz="1100">
                <a:solidFill>
                  <a:srgbClr val="000000"/>
                </a:solidFill>
                <a:latin typeface="Arial"/>
                <a:ea typeface="Arial"/>
                <a:cs typeface="Arial"/>
                <a:sym typeface="Arial"/>
              </a:rPr>
              <a:t>Kullanıcı transkriptine (aldığı derslere) göre "alabileceği" dersleri filtreleyebilecek. Seçtiği derslerin OCR ile işlenen haftalık programa göre çakışıp çakışmadığını anlık olarak görecek.</a:t>
            </a: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a:p>
        </p:txBody>
      </p:sp>
      <p:pic>
        <p:nvPicPr>
          <p:cNvPr id="158" name="Google Shape;158;p17"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pic>
        <p:nvPicPr>
          <p:cNvPr id="159" name="Google Shape;159;p17" title="Android Compact - 3.png"/>
          <p:cNvPicPr preferRelativeResize="0"/>
          <p:nvPr/>
        </p:nvPicPr>
        <p:blipFill>
          <a:blip r:embed="rId4">
            <a:alphaModFix/>
          </a:blip>
          <a:stretch>
            <a:fillRect/>
          </a:stretch>
        </p:blipFill>
        <p:spPr>
          <a:xfrm>
            <a:off x="6361850" y="1688150"/>
            <a:ext cx="1396975" cy="27107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819150" y="845600"/>
            <a:ext cx="7505700" cy="1038900"/>
          </a:xfrm>
          <a:prstGeom prst="rect">
            <a:avLst/>
          </a:prstGeom>
        </p:spPr>
        <p:txBody>
          <a:bodyPr spcFirstLastPara="1" wrap="square" lIns="91425" tIns="91425" rIns="91425" bIns="91425" anchor="t" anchorCtr="0">
            <a:normAutofit/>
          </a:bodyPr>
          <a:lstStyle/>
          <a:p>
            <a:pPr marL="0" lvl="0" indent="0" algn="l" rtl="0">
              <a:lnSpc>
                <a:spcPct val="115000"/>
              </a:lnSpc>
              <a:spcBef>
                <a:spcPts val="1800"/>
              </a:spcBef>
              <a:spcAft>
                <a:spcPts val="0"/>
              </a:spcAft>
              <a:buNone/>
            </a:pPr>
            <a:r>
              <a:rPr lang="tr" sz="3300"/>
              <a:t>2. Fonksiyon: AGNO Simülatörü</a:t>
            </a:r>
            <a:endParaRPr sz="3300"/>
          </a:p>
          <a:p>
            <a:pPr marL="0" lvl="0" indent="0" algn="l" rtl="0">
              <a:spcBef>
                <a:spcPts val="400"/>
              </a:spcBef>
              <a:spcAft>
                <a:spcPts val="0"/>
              </a:spcAft>
              <a:buNone/>
            </a:pPr>
            <a:endParaRPr/>
          </a:p>
        </p:txBody>
      </p:sp>
      <p:sp>
        <p:nvSpPr>
          <p:cNvPr id="165" name="Google Shape;165;p18"/>
          <p:cNvSpPr txBox="1">
            <a:spLocks noGrp="1"/>
          </p:cNvSpPr>
          <p:nvPr>
            <p:ph type="body" idx="1"/>
          </p:nvPr>
        </p:nvSpPr>
        <p:spPr>
          <a:xfrm>
            <a:off x="819150" y="1990725"/>
            <a:ext cx="4458300" cy="24480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tr" sz="1100" b="1">
                <a:solidFill>
                  <a:schemeClr val="lt1"/>
                </a:solidFill>
                <a:latin typeface="Arial"/>
                <a:ea typeface="Arial"/>
                <a:cs typeface="Arial"/>
                <a:sym typeface="Arial"/>
              </a:rPr>
              <a:t>İşlevi:</a:t>
            </a:r>
            <a:r>
              <a:rPr lang="tr" sz="1100" b="1">
                <a:solidFill>
                  <a:srgbClr val="000000"/>
                </a:solidFill>
                <a:latin typeface="Arial"/>
                <a:ea typeface="Arial"/>
                <a:cs typeface="Arial"/>
                <a:sym typeface="Arial"/>
              </a:rPr>
              <a:t> </a:t>
            </a:r>
            <a:r>
              <a:rPr lang="tr" sz="1100">
                <a:solidFill>
                  <a:srgbClr val="000000"/>
                </a:solidFill>
                <a:latin typeface="Arial"/>
                <a:ea typeface="Arial"/>
                <a:cs typeface="Arial"/>
                <a:sym typeface="Arial"/>
              </a:rPr>
              <a:t>Mevcut AGNO (transkriptten gelen) üzerine bu dönem alınması planlanan dersler eklenecek. Kullanıcı henüz notu belli olmayan dersler için tahmini harf notları (AA, BA, CB vb.) girebilecek. Uygulama girilen senaryoya göre potansiyel ANO ve AGNO (Genel Ortalama) değerlerini anında hesaplayacak.</a:t>
            </a: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a:p>
        </p:txBody>
      </p:sp>
      <p:pic>
        <p:nvPicPr>
          <p:cNvPr id="166" name="Google Shape;166;p18"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pic>
        <p:nvPicPr>
          <p:cNvPr id="167" name="Google Shape;167;p18" title="Android Compact - 2.png"/>
          <p:cNvPicPr preferRelativeResize="0"/>
          <p:nvPr/>
        </p:nvPicPr>
        <p:blipFill>
          <a:blip r:embed="rId4">
            <a:alphaModFix/>
          </a:blip>
          <a:stretch>
            <a:fillRect/>
          </a:stretch>
        </p:blipFill>
        <p:spPr>
          <a:xfrm>
            <a:off x="6311300" y="1718925"/>
            <a:ext cx="1417975" cy="27197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9"/>
          <p:cNvSpPr txBox="1">
            <a:spLocks noGrp="1"/>
          </p:cNvSpPr>
          <p:nvPr>
            <p:ph type="title"/>
          </p:nvPr>
        </p:nvSpPr>
        <p:spPr>
          <a:xfrm>
            <a:off x="819150" y="845600"/>
            <a:ext cx="7505700" cy="10389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800"/>
              </a:spcBef>
              <a:spcAft>
                <a:spcPts val="0"/>
              </a:spcAft>
              <a:buNone/>
            </a:pPr>
            <a:r>
              <a:rPr lang="tr" sz="3300"/>
              <a:t>3. Fonksiyon: Kampüs Yaşam Düzenleme</a:t>
            </a:r>
            <a:endParaRPr sz="3300"/>
          </a:p>
          <a:p>
            <a:pPr marL="0" lvl="0" indent="0" algn="l" rtl="0">
              <a:spcBef>
                <a:spcPts val="400"/>
              </a:spcBef>
              <a:spcAft>
                <a:spcPts val="0"/>
              </a:spcAft>
              <a:buNone/>
            </a:pPr>
            <a:endParaRPr/>
          </a:p>
        </p:txBody>
      </p:sp>
      <p:sp>
        <p:nvSpPr>
          <p:cNvPr id="173" name="Google Shape;173;p19"/>
          <p:cNvSpPr txBox="1">
            <a:spLocks noGrp="1"/>
          </p:cNvSpPr>
          <p:nvPr>
            <p:ph type="body" idx="1"/>
          </p:nvPr>
        </p:nvSpPr>
        <p:spPr>
          <a:xfrm>
            <a:off x="819150" y="1990725"/>
            <a:ext cx="4902000" cy="24480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tr" sz="1100" b="1">
                <a:solidFill>
                  <a:schemeClr val="lt1"/>
                </a:solidFill>
                <a:latin typeface="Arial"/>
                <a:ea typeface="Arial"/>
                <a:cs typeface="Arial"/>
                <a:sym typeface="Arial"/>
              </a:rPr>
              <a:t>Otomatik Ses Profili Yönetimi:</a:t>
            </a:r>
            <a:r>
              <a:rPr lang="tr" sz="1100" b="1">
                <a:solidFill>
                  <a:srgbClr val="000000"/>
                </a:solidFill>
                <a:latin typeface="Arial"/>
                <a:ea typeface="Arial"/>
                <a:cs typeface="Arial"/>
                <a:sym typeface="Arial"/>
              </a:rPr>
              <a:t> </a:t>
            </a:r>
            <a:r>
              <a:rPr lang="tr" sz="1100">
                <a:solidFill>
                  <a:srgbClr val="000000"/>
                </a:solidFill>
                <a:latin typeface="Arial"/>
                <a:ea typeface="Arial"/>
                <a:cs typeface="Arial"/>
                <a:sym typeface="Arial"/>
              </a:rPr>
              <a:t>Kullanıcının seçtiği derslerin (sisteme PDF'ten OCR ile taranan ders saatleri verisine göre) ve cihazın GPS verisini kullanacak. Kural: (Konum = Kampüs) </a:t>
            </a:r>
            <a:r>
              <a:rPr lang="tr" sz="1100" b="1">
                <a:solidFill>
                  <a:srgbClr val="000000"/>
                </a:solidFill>
                <a:latin typeface="Arial"/>
                <a:ea typeface="Arial"/>
                <a:cs typeface="Arial"/>
                <a:sym typeface="Arial"/>
              </a:rPr>
              <a:t>VE</a:t>
            </a:r>
            <a:r>
              <a:rPr lang="tr" sz="1100">
                <a:solidFill>
                  <a:srgbClr val="000000"/>
                </a:solidFill>
                <a:latin typeface="Arial"/>
                <a:ea typeface="Arial"/>
                <a:cs typeface="Arial"/>
                <a:sym typeface="Arial"/>
              </a:rPr>
              <a:t> (Zaman = Ders Saati) koşullarının sağlanıp sağlanmamasına göre uygulama telefonun ses profilini otomatik olarak yönetebilecek.</a:t>
            </a:r>
            <a:endParaRPr sz="1100">
              <a:solidFill>
                <a:srgbClr val="000000"/>
              </a:solidFill>
              <a:latin typeface="Arial"/>
              <a:ea typeface="Arial"/>
              <a:cs typeface="Arial"/>
              <a:sym typeface="Arial"/>
            </a:endParaRPr>
          </a:p>
          <a:p>
            <a:pPr marL="0" lvl="0" indent="0" algn="l" rtl="0">
              <a:spcBef>
                <a:spcPts val="1200"/>
              </a:spcBef>
              <a:spcAft>
                <a:spcPts val="0"/>
              </a:spcAft>
              <a:buNone/>
            </a:pPr>
            <a:r>
              <a:rPr lang="tr" sz="1100" b="1">
                <a:solidFill>
                  <a:schemeClr val="lt1"/>
                </a:solidFill>
                <a:latin typeface="Arial"/>
                <a:ea typeface="Arial"/>
                <a:cs typeface="Arial"/>
                <a:sym typeface="Arial"/>
              </a:rPr>
              <a:t>Akademik Doküman Yönetimi: </a:t>
            </a:r>
            <a:r>
              <a:rPr lang="tr" sz="1100">
                <a:solidFill>
                  <a:srgbClr val="000000"/>
                </a:solidFill>
                <a:latin typeface="Arial"/>
                <a:ea typeface="Arial"/>
                <a:cs typeface="Arial"/>
                <a:sym typeface="Arial"/>
              </a:rPr>
              <a:t>Alınan her ders için (örn: Fizik 1, Calculus gibi) dijital klasörler oluşturulacak. Öğrencilerin ders notlarını, syllabusları ve ilgili materyalleri ders bazlı organize edebilecek.</a:t>
            </a:r>
            <a:endParaRPr sz="1100">
              <a:solidFill>
                <a:srgbClr val="000000"/>
              </a:solidFill>
              <a:latin typeface="Arial"/>
              <a:ea typeface="Arial"/>
              <a:cs typeface="Arial"/>
              <a:sym typeface="Arial"/>
            </a:endParaRPr>
          </a:p>
          <a:p>
            <a:pPr marL="0" lvl="0" indent="0" algn="l" rtl="0">
              <a:spcBef>
                <a:spcPts val="1200"/>
              </a:spcBef>
              <a:spcAft>
                <a:spcPts val="1200"/>
              </a:spcAft>
              <a:buNone/>
            </a:pPr>
            <a:endParaRPr sz="1100" b="1">
              <a:solidFill>
                <a:schemeClr val="lt1"/>
              </a:solidFill>
              <a:latin typeface="Arial"/>
              <a:ea typeface="Arial"/>
              <a:cs typeface="Arial"/>
              <a:sym typeface="Arial"/>
            </a:endParaRPr>
          </a:p>
        </p:txBody>
      </p:sp>
      <p:pic>
        <p:nvPicPr>
          <p:cNvPr id="174" name="Google Shape;174;p19" title="logo_tr_eng-a4-41.jpg"/>
          <p:cNvPicPr preferRelativeResize="0"/>
          <p:nvPr/>
        </p:nvPicPr>
        <p:blipFill>
          <a:blip r:embed="rId3">
            <a:alphaModFix/>
          </a:blip>
          <a:stretch>
            <a:fillRect/>
          </a:stretch>
        </p:blipFill>
        <p:spPr>
          <a:xfrm>
            <a:off x="8016751" y="4034650"/>
            <a:ext cx="915974" cy="902874"/>
          </a:xfrm>
          <a:prstGeom prst="rect">
            <a:avLst/>
          </a:prstGeom>
          <a:noFill/>
          <a:ln>
            <a:noFill/>
          </a:ln>
        </p:spPr>
      </p:pic>
      <p:pic>
        <p:nvPicPr>
          <p:cNvPr id="175" name="Google Shape;175;p19" title="UI.png"/>
          <p:cNvPicPr preferRelativeResize="0"/>
          <p:nvPr/>
        </p:nvPicPr>
        <p:blipFill>
          <a:blip r:embed="rId4">
            <a:alphaModFix/>
          </a:blip>
          <a:stretch>
            <a:fillRect/>
          </a:stretch>
        </p:blipFill>
        <p:spPr>
          <a:xfrm>
            <a:off x="5991875" y="1565650"/>
            <a:ext cx="2024875" cy="3038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a:extLst>
            <a:ext uri="{FF2B5EF4-FFF2-40B4-BE49-F238E27FC236}">
              <a16:creationId xmlns:a16="http://schemas.microsoft.com/office/drawing/2014/main" id="{FC9C80D0-A3AE-1750-4843-E538617642DA}"/>
            </a:ext>
          </a:extLst>
        </p:cNvPr>
        <p:cNvGrpSpPr/>
        <p:nvPr/>
      </p:nvGrpSpPr>
      <p:grpSpPr>
        <a:xfrm>
          <a:off x="0" y="0"/>
          <a:ext cx="0" cy="0"/>
          <a:chOff x="0" y="0"/>
          <a:chExt cx="0" cy="0"/>
        </a:xfrm>
      </p:grpSpPr>
      <p:sp>
        <p:nvSpPr>
          <p:cNvPr id="180" name="Google Shape;180;p20">
            <a:extLst>
              <a:ext uri="{FF2B5EF4-FFF2-40B4-BE49-F238E27FC236}">
                <a16:creationId xmlns:a16="http://schemas.microsoft.com/office/drawing/2014/main" id="{CC1DFE6E-7178-8D7A-74D4-C1E39AE7E5D9}"/>
              </a:ext>
            </a:extLst>
          </p:cNvPr>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tr"/>
              <a:t>BİZİ DİNLEDİĞİNİZ İÇİN TEŞEKKÜRLER</a:t>
            </a:r>
            <a:endParaRPr/>
          </a:p>
        </p:txBody>
      </p:sp>
      <p:sp>
        <p:nvSpPr>
          <p:cNvPr id="181" name="Google Shape;181;p20">
            <a:extLst>
              <a:ext uri="{FF2B5EF4-FFF2-40B4-BE49-F238E27FC236}">
                <a16:creationId xmlns:a16="http://schemas.microsoft.com/office/drawing/2014/main" id="{63ABB573-3DC8-1FB7-0817-39F306216AC1}"/>
              </a:ext>
            </a:extLst>
          </p:cNvPr>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tr" dirty="0"/>
              <a:t>Hazırlayanlar: </a:t>
            </a:r>
            <a:endParaRPr dirty="0"/>
          </a:p>
          <a:p>
            <a:pPr marL="0" lvl="0" indent="0" algn="l" rtl="0">
              <a:spcBef>
                <a:spcPts val="1200"/>
              </a:spcBef>
              <a:spcAft>
                <a:spcPts val="0"/>
              </a:spcAft>
              <a:buNone/>
            </a:pPr>
            <a:r>
              <a:rPr lang="tr" dirty="0">
                <a:solidFill>
                  <a:schemeClr val="lt1"/>
                </a:solidFill>
              </a:rPr>
              <a:t>Alican İnsan</a:t>
            </a:r>
            <a:r>
              <a:rPr lang="tr" dirty="0"/>
              <a:t> - 1306230101  </a:t>
            </a:r>
            <a:r>
              <a:rPr lang="tr" dirty="0">
                <a:solidFill>
                  <a:schemeClr val="lt1"/>
                </a:solidFill>
              </a:rPr>
              <a:t>Kubilay Özkan</a:t>
            </a:r>
            <a:r>
              <a:rPr lang="tr" dirty="0"/>
              <a:t> - 1316230077 </a:t>
            </a:r>
            <a:endParaRPr dirty="0"/>
          </a:p>
          <a:p>
            <a:pPr marL="0" lvl="0" indent="0" algn="l" rtl="0">
              <a:spcBef>
                <a:spcPts val="1200"/>
              </a:spcBef>
              <a:spcAft>
                <a:spcPts val="1200"/>
              </a:spcAft>
              <a:buNone/>
            </a:pPr>
            <a:r>
              <a:rPr lang="tr" dirty="0">
                <a:solidFill>
                  <a:schemeClr val="lt1"/>
                </a:solidFill>
              </a:rPr>
              <a:t>Ömer Özer</a:t>
            </a:r>
            <a:r>
              <a:rPr lang="tr" dirty="0"/>
              <a:t> - 1306210087  </a:t>
            </a:r>
            <a:r>
              <a:rPr lang="tr" dirty="0">
                <a:solidFill>
                  <a:schemeClr val="lt1"/>
                </a:solidFill>
              </a:rPr>
              <a:t>Sercan Tayilan</a:t>
            </a:r>
            <a:r>
              <a:rPr lang="tr" dirty="0"/>
              <a:t> - 1306170097</a:t>
            </a:r>
            <a:endParaRPr dirty="0"/>
          </a:p>
        </p:txBody>
      </p:sp>
      <p:pic>
        <p:nvPicPr>
          <p:cNvPr id="182" name="Google Shape;182;p20" title="logo_tr_eng-a4-41.jpg">
            <a:extLst>
              <a:ext uri="{FF2B5EF4-FFF2-40B4-BE49-F238E27FC236}">
                <a16:creationId xmlns:a16="http://schemas.microsoft.com/office/drawing/2014/main" id="{FB61B282-89A2-C594-2F78-BC8EE7824BB6}"/>
              </a:ext>
            </a:extLst>
          </p:cNvPr>
          <p:cNvPicPr preferRelativeResize="0"/>
          <p:nvPr/>
        </p:nvPicPr>
        <p:blipFill>
          <a:blip r:embed="rId3">
            <a:alphaModFix/>
          </a:blip>
          <a:stretch>
            <a:fillRect/>
          </a:stretch>
        </p:blipFill>
        <p:spPr>
          <a:xfrm>
            <a:off x="8016751" y="4034650"/>
            <a:ext cx="915974" cy="902874"/>
          </a:xfrm>
          <a:prstGeom prst="rect">
            <a:avLst/>
          </a:prstGeom>
          <a:noFill/>
          <a:ln>
            <a:noFill/>
          </a:ln>
        </p:spPr>
      </p:pic>
    </p:spTree>
    <p:extLst>
      <p:ext uri="{BB962C8B-B14F-4D97-AF65-F5344CB8AC3E}">
        <p14:creationId xmlns:p14="http://schemas.microsoft.com/office/powerpoint/2010/main" val="2995927274"/>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436</Words>
  <Application>Microsoft Office PowerPoint</Application>
  <PresentationFormat>Ekran Gösterisi (16:9)</PresentationFormat>
  <Paragraphs>34</Paragraphs>
  <Slides>9</Slides>
  <Notes>9</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9</vt:i4>
      </vt:variant>
    </vt:vector>
  </HeadingPairs>
  <TitlesOfParts>
    <vt:vector size="13" baseType="lpstr">
      <vt:lpstr>Arial</vt:lpstr>
      <vt:lpstr>Nunito</vt:lpstr>
      <vt:lpstr>Calibri</vt:lpstr>
      <vt:lpstr>Shift</vt:lpstr>
      <vt:lpstr>COMPANION  MOBİL UYGULAMA PROJESİ</vt:lpstr>
      <vt:lpstr>TAKIM ÜYELERİ – GÖREV DAĞILIMI</vt:lpstr>
      <vt:lpstr>Companion nedir? Companion’ın amacı nedir? </vt:lpstr>
      <vt:lpstr>Öğrencilerin Genelde Yaşadığı Sıkıntılar</vt:lpstr>
      <vt:lpstr>Uygulamamızın Fonksiyonları</vt:lpstr>
      <vt:lpstr>Fonksiyon: Akıllı Ders Planlama</vt:lpstr>
      <vt:lpstr>2. Fonksiyon: AGNO Simülatörü </vt:lpstr>
      <vt:lpstr>3. Fonksiyon: Kampüs Yaşam Düzenleme </vt:lpstr>
      <vt:lpstr>BİZİ DİNLEDİĞİNİZ İÇİN TEŞEKKÜRLER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SERCAN TAYILAN</cp:lastModifiedBy>
  <cp:revision>3</cp:revision>
  <dcterms:modified xsi:type="dcterms:W3CDTF">2025-11-05T12:17:22Z</dcterms:modified>
</cp:coreProperties>
</file>